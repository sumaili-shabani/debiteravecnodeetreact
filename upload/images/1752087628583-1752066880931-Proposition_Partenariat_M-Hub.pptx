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426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Point 1 :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M-Hub, en </a:t>
            </a:r>
            <a:r>
              <a:rPr dirty="0" err="1"/>
              <a:t>tant</a:t>
            </a:r>
            <a:r>
              <a:rPr dirty="0"/>
              <a:t> </a:t>
            </a:r>
            <a:r>
              <a:rPr dirty="0" err="1"/>
              <a:t>qu'incubateur</a:t>
            </a:r>
            <a:r>
              <a:rPr dirty="0"/>
              <a:t> </a:t>
            </a:r>
            <a:r>
              <a:rPr dirty="0" err="1"/>
              <a:t>d'innovation</a:t>
            </a:r>
            <a:r>
              <a:rPr dirty="0"/>
              <a:t>, </a:t>
            </a:r>
            <a:r>
              <a:rPr dirty="0" err="1"/>
              <a:t>accompagne</a:t>
            </a:r>
            <a:r>
              <a:rPr dirty="0"/>
              <a:t> les initiatives à fort impact. Nous </a:t>
            </a:r>
            <a:r>
              <a:rPr dirty="0" err="1"/>
              <a:t>proposons</a:t>
            </a:r>
            <a:r>
              <a:rPr dirty="0"/>
              <a:t> </a:t>
            </a:r>
            <a:r>
              <a:rPr dirty="0" err="1"/>
              <a:t>deux</a:t>
            </a:r>
            <a:r>
              <a:rPr dirty="0"/>
              <a:t> axes </a:t>
            </a:r>
            <a:r>
              <a:rPr dirty="0" err="1"/>
              <a:t>stratégiques</a:t>
            </a:r>
            <a:r>
              <a:rPr dirty="0"/>
              <a:t> :</a:t>
            </a:r>
          </a:p>
          <a:p>
            <a:r>
              <a:rPr dirty="0"/>
              <a:t>1. Un hub de formation </a:t>
            </a:r>
            <a:r>
              <a:rPr dirty="0" err="1"/>
              <a:t>hybride</a:t>
            </a:r>
            <a:r>
              <a:rPr dirty="0"/>
              <a:t> (</a:t>
            </a:r>
            <a:r>
              <a:rPr dirty="0" err="1"/>
              <a:t>présentiel</a:t>
            </a:r>
            <a:r>
              <a:rPr dirty="0"/>
              <a:t> + e-learning)</a:t>
            </a:r>
          </a:p>
          <a:p>
            <a:r>
              <a:rPr dirty="0"/>
              <a:t>2. Un </a:t>
            </a:r>
            <a:r>
              <a:rPr dirty="0" err="1"/>
              <a:t>investissement</a:t>
            </a:r>
            <a:r>
              <a:rPr dirty="0"/>
              <a:t> rentable </a:t>
            </a:r>
            <a:r>
              <a:rPr dirty="0" err="1"/>
              <a:t>dans</a:t>
            </a:r>
            <a:r>
              <a:rPr dirty="0"/>
              <a:t> le </a:t>
            </a:r>
            <a:r>
              <a:rPr dirty="0" err="1"/>
              <a:t>projet</a:t>
            </a:r>
            <a:r>
              <a:rPr dirty="0"/>
              <a:t> </a:t>
            </a:r>
            <a:r>
              <a:rPr dirty="0" err="1"/>
              <a:t>numérique</a:t>
            </a:r>
            <a:r>
              <a:rPr dirty="0"/>
              <a:t> E-SERV.</a:t>
            </a:r>
          </a:p>
        </p:txBody>
      </p:sp>
      <p:sp>
        <p:nvSpPr>
          <p:cNvPr id="4" name="Freeform 5"/>
          <p:cNvSpPr/>
          <p:nvPr/>
        </p:nvSpPr>
        <p:spPr>
          <a:xfrm rot="-10800000" flipV="1">
            <a:off x="7330636" y="4899990"/>
            <a:ext cx="2273669" cy="2273669"/>
          </a:xfrm>
          <a:custGeom>
            <a:avLst/>
            <a:gdLst/>
            <a:ahLst/>
            <a:cxnLst/>
            <a:rect l="l" t="t" r="r" b="b"/>
            <a:pathLst>
              <a:path w="2273669" h="2273669">
                <a:moveTo>
                  <a:pt x="0" y="2273669"/>
                </a:moveTo>
                <a:lnTo>
                  <a:pt x="2273669" y="2273669"/>
                </a:lnTo>
                <a:lnTo>
                  <a:pt x="2273669" y="0"/>
                </a:lnTo>
                <a:lnTo>
                  <a:pt x="0" y="0"/>
                </a:lnTo>
                <a:lnTo>
                  <a:pt x="0" y="227366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16"/>
          <p:cNvSpPr/>
          <p:nvPr/>
        </p:nvSpPr>
        <p:spPr>
          <a:xfrm>
            <a:off x="7684719" y="5418313"/>
            <a:ext cx="1237023" cy="1237023"/>
          </a:xfrm>
          <a:custGeom>
            <a:avLst/>
            <a:gdLst/>
            <a:ahLst/>
            <a:cxnLst/>
            <a:rect l="l" t="t" r="r" b="b"/>
            <a:pathLst>
              <a:path w="1237023" h="1237023">
                <a:moveTo>
                  <a:pt x="0" y="0"/>
                </a:moveTo>
                <a:lnTo>
                  <a:pt x="1237023" y="0"/>
                </a:lnTo>
                <a:lnTo>
                  <a:pt x="1237023" y="1237023"/>
                </a:lnTo>
                <a:lnTo>
                  <a:pt x="0" y="12370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5"/>
          <p:cNvSpPr/>
          <p:nvPr/>
        </p:nvSpPr>
        <p:spPr>
          <a:xfrm rot="5400000" flipV="1">
            <a:off x="7470649" y="-324663"/>
            <a:ext cx="2273669" cy="2273669"/>
          </a:xfrm>
          <a:custGeom>
            <a:avLst/>
            <a:gdLst/>
            <a:ahLst/>
            <a:cxnLst/>
            <a:rect l="l" t="t" r="r" b="b"/>
            <a:pathLst>
              <a:path w="2273669" h="2273669">
                <a:moveTo>
                  <a:pt x="0" y="2273669"/>
                </a:moveTo>
                <a:lnTo>
                  <a:pt x="2273669" y="2273669"/>
                </a:lnTo>
                <a:lnTo>
                  <a:pt x="2273669" y="0"/>
                </a:lnTo>
                <a:lnTo>
                  <a:pt x="0" y="0"/>
                </a:lnTo>
                <a:lnTo>
                  <a:pt x="0" y="227366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16"/>
          <p:cNvSpPr/>
          <p:nvPr/>
        </p:nvSpPr>
        <p:spPr>
          <a:xfrm rot="16200000">
            <a:off x="7824732" y="193660"/>
            <a:ext cx="1237023" cy="1237023"/>
          </a:xfrm>
          <a:custGeom>
            <a:avLst/>
            <a:gdLst/>
            <a:ahLst/>
            <a:cxnLst/>
            <a:rect l="l" t="t" r="r" b="b"/>
            <a:pathLst>
              <a:path w="1237023" h="1237023">
                <a:moveTo>
                  <a:pt x="0" y="0"/>
                </a:moveTo>
                <a:lnTo>
                  <a:pt x="1237023" y="0"/>
                </a:lnTo>
                <a:lnTo>
                  <a:pt x="1237023" y="1237023"/>
                </a:lnTo>
                <a:lnTo>
                  <a:pt x="0" y="12370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Point 2 : Hub de formation hybride – Objectif &amp;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Objectif : Mettre en place une plateforme de formation hybride pour renforcer les compétences.</a:t>
            </a:r>
          </a:p>
          <a:p>
            <a:r>
              <a:t>Vision : Faire de M-Hub un centre régional de référence en formation numérique et innovation.</a:t>
            </a:r>
          </a:p>
        </p:txBody>
      </p:sp>
      <p:sp>
        <p:nvSpPr>
          <p:cNvPr id="4" name="Freeform 5"/>
          <p:cNvSpPr/>
          <p:nvPr/>
        </p:nvSpPr>
        <p:spPr>
          <a:xfrm rot="-10800000" flipV="1">
            <a:off x="7330636" y="4899990"/>
            <a:ext cx="2273669" cy="2273669"/>
          </a:xfrm>
          <a:custGeom>
            <a:avLst/>
            <a:gdLst/>
            <a:ahLst/>
            <a:cxnLst/>
            <a:rect l="l" t="t" r="r" b="b"/>
            <a:pathLst>
              <a:path w="2273669" h="2273669">
                <a:moveTo>
                  <a:pt x="0" y="2273669"/>
                </a:moveTo>
                <a:lnTo>
                  <a:pt x="2273669" y="2273669"/>
                </a:lnTo>
                <a:lnTo>
                  <a:pt x="2273669" y="0"/>
                </a:lnTo>
                <a:lnTo>
                  <a:pt x="0" y="0"/>
                </a:lnTo>
                <a:lnTo>
                  <a:pt x="0" y="227366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16"/>
          <p:cNvSpPr/>
          <p:nvPr/>
        </p:nvSpPr>
        <p:spPr>
          <a:xfrm>
            <a:off x="7684719" y="5418313"/>
            <a:ext cx="1237023" cy="1237023"/>
          </a:xfrm>
          <a:custGeom>
            <a:avLst/>
            <a:gdLst/>
            <a:ahLst/>
            <a:cxnLst/>
            <a:rect l="l" t="t" r="r" b="b"/>
            <a:pathLst>
              <a:path w="1237023" h="1237023">
                <a:moveTo>
                  <a:pt x="0" y="0"/>
                </a:moveTo>
                <a:lnTo>
                  <a:pt x="1237023" y="0"/>
                </a:lnTo>
                <a:lnTo>
                  <a:pt x="1237023" y="1237023"/>
                </a:lnTo>
                <a:lnTo>
                  <a:pt x="0" y="12370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5"/>
          <p:cNvSpPr/>
          <p:nvPr/>
        </p:nvSpPr>
        <p:spPr>
          <a:xfrm rot="5400000" flipV="1">
            <a:off x="7470649" y="-324663"/>
            <a:ext cx="2273669" cy="2273669"/>
          </a:xfrm>
          <a:custGeom>
            <a:avLst/>
            <a:gdLst/>
            <a:ahLst/>
            <a:cxnLst/>
            <a:rect l="l" t="t" r="r" b="b"/>
            <a:pathLst>
              <a:path w="2273669" h="2273669">
                <a:moveTo>
                  <a:pt x="0" y="2273669"/>
                </a:moveTo>
                <a:lnTo>
                  <a:pt x="2273669" y="2273669"/>
                </a:lnTo>
                <a:lnTo>
                  <a:pt x="2273669" y="0"/>
                </a:lnTo>
                <a:lnTo>
                  <a:pt x="0" y="0"/>
                </a:lnTo>
                <a:lnTo>
                  <a:pt x="0" y="227366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16"/>
          <p:cNvSpPr/>
          <p:nvPr/>
        </p:nvSpPr>
        <p:spPr>
          <a:xfrm rot="16200000">
            <a:off x="7824732" y="193660"/>
            <a:ext cx="1237023" cy="1237023"/>
          </a:xfrm>
          <a:custGeom>
            <a:avLst/>
            <a:gdLst/>
            <a:ahLst/>
            <a:cxnLst/>
            <a:rect l="l" t="t" r="r" b="b"/>
            <a:pathLst>
              <a:path w="1237023" h="1237023">
                <a:moveTo>
                  <a:pt x="0" y="0"/>
                </a:moveTo>
                <a:lnTo>
                  <a:pt x="1237023" y="0"/>
                </a:lnTo>
                <a:lnTo>
                  <a:pt x="1237023" y="1237023"/>
                </a:lnTo>
                <a:lnTo>
                  <a:pt x="0" y="12370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Point 3 : Publics cibles et opportunités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Cibles : ONG, entrepreneurs, PME, étudiants.</a:t>
            </a:r>
          </a:p>
          <a:p>
            <a:r>
              <a:t>Opportunités : Nouvelles sources de revenus, visibilité accrue, partenariats stratégiques.</a:t>
            </a:r>
          </a:p>
        </p:txBody>
      </p:sp>
      <p:sp>
        <p:nvSpPr>
          <p:cNvPr id="4" name="Freeform 5"/>
          <p:cNvSpPr/>
          <p:nvPr/>
        </p:nvSpPr>
        <p:spPr>
          <a:xfrm rot="-10800000" flipV="1">
            <a:off x="7330636" y="4899990"/>
            <a:ext cx="2273669" cy="2273669"/>
          </a:xfrm>
          <a:custGeom>
            <a:avLst/>
            <a:gdLst/>
            <a:ahLst/>
            <a:cxnLst/>
            <a:rect l="l" t="t" r="r" b="b"/>
            <a:pathLst>
              <a:path w="2273669" h="2273669">
                <a:moveTo>
                  <a:pt x="0" y="2273669"/>
                </a:moveTo>
                <a:lnTo>
                  <a:pt x="2273669" y="2273669"/>
                </a:lnTo>
                <a:lnTo>
                  <a:pt x="2273669" y="0"/>
                </a:lnTo>
                <a:lnTo>
                  <a:pt x="0" y="0"/>
                </a:lnTo>
                <a:lnTo>
                  <a:pt x="0" y="227366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16"/>
          <p:cNvSpPr/>
          <p:nvPr/>
        </p:nvSpPr>
        <p:spPr>
          <a:xfrm>
            <a:off x="7684719" y="5418313"/>
            <a:ext cx="1237023" cy="1237023"/>
          </a:xfrm>
          <a:custGeom>
            <a:avLst/>
            <a:gdLst/>
            <a:ahLst/>
            <a:cxnLst/>
            <a:rect l="l" t="t" r="r" b="b"/>
            <a:pathLst>
              <a:path w="1237023" h="1237023">
                <a:moveTo>
                  <a:pt x="0" y="0"/>
                </a:moveTo>
                <a:lnTo>
                  <a:pt x="1237023" y="0"/>
                </a:lnTo>
                <a:lnTo>
                  <a:pt x="1237023" y="1237023"/>
                </a:lnTo>
                <a:lnTo>
                  <a:pt x="0" y="12370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5"/>
          <p:cNvSpPr/>
          <p:nvPr/>
        </p:nvSpPr>
        <p:spPr>
          <a:xfrm rot="5400000" flipV="1">
            <a:off x="7470649" y="-324663"/>
            <a:ext cx="2273669" cy="2273669"/>
          </a:xfrm>
          <a:custGeom>
            <a:avLst/>
            <a:gdLst/>
            <a:ahLst/>
            <a:cxnLst/>
            <a:rect l="l" t="t" r="r" b="b"/>
            <a:pathLst>
              <a:path w="2273669" h="2273669">
                <a:moveTo>
                  <a:pt x="0" y="2273669"/>
                </a:moveTo>
                <a:lnTo>
                  <a:pt x="2273669" y="2273669"/>
                </a:lnTo>
                <a:lnTo>
                  <a:pt x="2273669" y="0"/>
                </a:lnTo>
                <a:lnTo>
                  <a:pt x="0" y="0"/>
                </a:lnTo>
                <a:lnTo>
                  <a:pt x="0" y="227366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16"/>
          <p:cNvSpPr/>
          <p:nvPr/>
        </p:nvSpPr>
        <p:spPr>
          <a:xfrm rot="16200000">
            <a:off x="7824732" y="193660"/>
            <a:ext cx="1237023" cy="1237023"/>
          </a:xfrm>
          <a:custGeom>
            <a:avLst/>
            <a:gdLst/>
            <a:ahLst/>
            <a:cxnLst/>
            <a:rect l="l" t="t" r="r" b="b"/>
            <a:pathLst>
              <a:path w="1237023" h="1237023">
                <a:moveTo>
                  <a:pt x="0" y="0"/>
                </a:moveTo>
                <a:lnTo>
                  <a:pt x="1237023" y="0"/>
                </a:lnTo>
                <a:lnTo>
                  <a:pt x="1237023" y="1237023"/>
                </a:lnTo>
                <a:lnTo>
                  <a:pt x="0" y="12370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Point 4 : </a:t>
            </a:r>
            <a:r>
              <a:rPr dirty="0" err="1"/>
              <a:t>Offres</a:t>
            </a:r>
            <a:r>
              <a:rPr dirty="0"/>
              <a:t> de formation </a:t>
            </a:r>
            <a:r>
              <a:rPr dirty="0" err="1"/>
              <a:t>proposées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 smtClean="0"/>
              <a:t>Entrepreneuriat</a:t>
            </a:r>
            <a:r>
              <a:rPr dirty="0" smtClean="0"/>
              <a:t> </a:t>
            </a:r>
            <a:r>
              <a:rPr dirty="0"/>
              <a:t>et Leadership</a:t>
            </a:r>
          </a:p>
          <a:p>
            <a:r>
              <a:rPr dirty="0" err="1" smtClean="0"/>
              <a:t>Programmation</a:t>
            </a:r>
            <a:r>
              <a:rPr dirty="0" smtClean="0"/>
              <a:t> </a:t>
            </a:r>
            <a:r>
              <a:rPr dirty="0"/>
              <a:t>Web &amp; Mobile</a:t>
            </a:r>
          </a:p>
          <a:p>
            <a:r>
              <a:rPr dirty="0" smtClean="0"/>
              <a:t>Marketing </a:t>
            </a:r>
            <a:r>
              <a:rPr dirty="0"/>
              <a:t>digital</a:t>
            </a:r>
          </a:p>
          <a:p>
            <a:r>
              <a:rPr dirty="0" err="1" smtClean="0"/>
              <a:t>Analyse</a:t>
            </a:r>
            <a:r>
              <a:rPr dirty="0" smtClean="0"/>
              <a:t> </a:t>
            </a:r>
            <a:r>
              <a:rPr dirty="0"/>
              <a:t>de </a:t>
            </a:r>
            <a:r>
              <a:rPr dirty="0" err="1"/>
              <a:t>données</a:t>
            </a:r>
            <a:endParaRPr dirty="0"/>
          </a:p>
          <a:p>
            <a:r>
              <a:rPr dirty="0" err="1" smtClean="0"/>
              <a:t>Élaboration</a:t>
            </a:r>
            <a:r>
              <a:rPr dirty="0" smtClean="0"/>
              <a:t> </a:t>
            </a:r>
            <a:r>
              <a:rPr dirty="0"/>
              <a:t>de </a:t>
            </a:r>
            <a:r>
              <a:rPr dirty="0" err="1"/>
              <a:t>projet</a:t>
            </a:r>
            <a:r>
              <a:rPr dirty="0"/>
              <a:t> </a:t>
            </a:r>
            <a:r>
              <a:rPr dirty="0" err="1"/>
              <a:t>humanitaire</a:t>
            </a:r>
            <a:r>
              <a:rPr dirty="0"/>
              <a:t>, MEAL</a:t>
            </a:r>
          </a:p>
        </p:txBody>
      </p:sp>
      <p:sp>
        <p:nvSpPr>
          <p:cNvPr id="4" name="Freeform 5"/>
          <p:cNvSpPr/>
          <p:nvPr/>
        </p:nvSpPr>
        <p:spPr>
          <a:xfrm rot="-10800000" flipV="1">
            <a:off x="7330636" y="4899990"/>
            <a:ext cx="2273669" cy="2273669"/>
          </a:xfrm>
          <a:custGeom>
            <a:avLst/>
            <a:gdLst/>
            <a:ahLst/>
            <a:cxnLst/>
            <a:rect l="l" t="t" r="r" b="b"/>
            <a:pathLst>
              <a:path w="2273669" h="2273669">
                <a:moveTo>
                  <a:pt x="0" y="2273669"/>
                </a:moveTo>
                <a:lnTo>
                  <a:pt x="2273669" y="2273669"/>
                </a:lnTo>
                <a:lnTo>
                  <a:pt x="2273669" y="0"/>
                </a:lnTo>
                <a:lnTo>
                  <a:pt x="0" y="0"/>
                </a:lnTo>
                <a:lnTo>
                  <a:pt x="0" y="227366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16"/>
          <p:cNvSpPr/>
          <p:nvPr/>
        </p:nvSpPr>
        <p:spPr>
          <a:xfrm>
            <a:off x="7684719" y="5418313"/>
            <a:ext cx="1237023" cy="1237023"/>
          </a:xfrm>
          <a:custGeom>
            <a:avLst/>
            <a:gdLst/>
            <a:ahLst/>
            <a:cxnLst/>
            <a:rect l="l" t="t" r="r" b="b"/>
            <a:pathLst>
              <a:path w="1237023" h="1237023">
                <a:moveTo>
                  <a:pt x="0" y="0"/>
                </a:moveTo>
                <a:lnTo>
                  <a:pt x="1237023" y="0"/>
                </a:lnTo>
                <a:lnTo>
                  <a:pt x="1237023" y="1237023"/>
                </a:lnTo>
                <a:lnTo>
                  <a:pt x="0" y="12370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5"/>
          <p:cNvSpPr/>
          <p:nvPr/>
        </p:nvSpPr>
        <p:spPr>
          <a:xfrm rot="5400000" flipV="1">
            <a:off x="7470649" y="-324663"/>
            <a:ext cx="2273669" cy="2273669"/>
          </a:xfrm>
          <a:custGeom>
            <a:avLst/>
            <a:gdLst/>
            <a:ahLst/>
            <a:cxnLst/>
            <a:rect l="l" t="t" r="r" b="b"/>
            <a:pathLst>
              <a:path w="2273669" h="2273669">
                <a:moveTo>
                  <a:pt x="0" y="2273669"/>
                </a:moveTo>
                <a:lnTo>
                  <a:pt x="2273669" y="2273669"/>
                </a:lnTo>
                <a:lnTo>
                  <a:pt x="2273669" y="0"/>
                </a:lnTo>
                <a:lnTo>
                  <a:pt x="0" y="0"/>
                </a:lnTo>
                <a:lnTo>
                  <a:pt x="0" y="227366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16"/>
          <p:cNvSpPr/>
          <p:nvPr/>
        </p:nvSpPr>
        <p:spPr>
          <a:xfrm rot="16200000">
            <a:off x="7824732" y="193660"/>
            <a:ext cx="1237023" cy="1237023"/>
          </a:xfrm>
          <a:custGeom>
            <a:avLst/>
            <a:gdLst/>
            <a:ahLst/>
            <a:cxnLst/>
            <a:rect l="l" t="t" r="r" b="b"/>
            <a:pathLst>
              <a:path w="1237023" h="1237023">
                <a:moveTo>
                  <a:pt x="0" y="0"/>
                </a:moveTo>
                <a:lnTo>
                  <a:pt x="1237023" y="0"/>
                </a:lnTo>
                <a:lnTo>
                  <a:pt x="1237023" y="1237023"/>
                </a:lnTo>
                <a:lnTo>
                  <a:pt x="0" y="12370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Point 5 : Modalités d’exécution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Présentiel : Sessions à M-Hub, encadrement, matériel fourni.</a:t>
            </a:r>
          </a:p>
          <a:p>
            <a:r>
              <a:t>En ligne : Plateforme e-learning, application web, suivi à distance.</a:t>
            </a:r>
          </a:p>
        </p:txBody>
      </p:sp>
      <p:sp>
        <p:nvSpPr>
          <p:cNvPr id="4" name="Freeform 5"/>
          <p:cNvSpPr/>
          <p:nvPr/>
        </p:nvSpPr>
        <p:spPr>
          <a:xfrm rot="-10800000" flipV="1">
            <a:off x="7330636" y="4899990"/>
            <a:ext cx="2273669" cy="2273669"/>
          </a:xfrm>
          <a:custGeom>
            <a:avLst/>
            <a:gdLst/>
            <a:ahLst/>
            <a:cxnLst/>
            <a:rect l="l" t="t" r="r" b="b"/>
            <a:pathLst>
              <a:path w="2273669" h="2273669">
                <a:moveTo>
                  <a:pt x="0" y="2273669"/>
                </a:moveTo>
                <a:lnTo>
                  <a:pt x="2273669" y="2273669"/>
                </a:lnTo>
                <a:lnTo>
                  <a:pt x="2273669" y="0"/>
                </a:lnTo>
                <a:lnTo>
                  <a:pt x="0" y="0"/>
                </a:lnTo>
                <a:lnTo>
                  <a:pt x="0" y="227366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16"/>
          <p:cNvSpPr/>
          <p:nvPr/>
        </p:nvSpPr>
        <p:spPr>
          <a:xfrm>
            <a:off x="7684719" y="5418313"/>
            <a:ext cx="1237023" cy="1237023"/>
          </a:xfrm>
          <a:custGeom>
            <a:avLst/>
            <a:gdLst/>
            <a:ahLst/>
            <a:cxnLst/>
            <a:rect l="l" t="t" r="r" b="b"/>
            <a:pathLst>
              <a:path w="1237023" h="1237023">
                <a:moveTo>
                  <a:pt x="0" y="0"/>
                </a:moveTo>
                <a:lnTo>
                  <a:pt x="1237023" y="0"/>
                </a:lnTo>
                <a:lnTo>
                  <a:pt x="1237023" y="1237023"/>
                </a:lnTo>
                <a:lnTo>
                  <a:pt x="0" y="12370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5"/>
          <p:cNvSpPr/>
          <p:nvPr/>
        </p:nvSpPr>
        <p:spPr>
          <a:xfrm rot="5400000" flipV="1">
            <a:off x="7470649" y="-324663"/>
            <a:ext cx="2273669" cy="2273669"/>
          </a:xfrm>
          <a:custGeom>
            <a:avLst/>
            <a:gdLst/>
            <a:ahLst/>
            <a:cxnLst/>
            <a:rect l="l" t="t" r="r" b="b"/>
            <a:pathLst>
              <a:path w="2273669" h="2273669">
                <a:moveTo>
                  <a:pt x="0" y="2273669"/>
                </a:moveTo>
                <a:lnTo>
                  <a:pt x="2273669" y="2273669"/>
                </a:lnTo>
                <a:lnTo>
                  <a:pt x="2273669" y="0"/>
                </a:lnTo>
                <a:lnTo>
                  <a:pt x="0" y="0"/>
                </a:lnTo>
                <a:lnTo>
                  <a:pt x="0" y="227366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16"/>
          <p:cNvSpPr/>
          <p:nvPr/>
        </p:nvSpPr>
        <p:spPr>
          <a:xfrm rot="16200000">
            <a:off x="7824732" y="193660"/>
            <a:ext cx="1237023" cy="1237023"/>
          </a:xfrm>
          <a:custGeom>
            <a:avLst/>
            <a:gdLst/>
            <a:ahLst/>
            <a:cxnLst/>
            <a:rect l="l" t="t" r="r" b="b"/>
            <a:pathLst>
              <a:path w="1237023" h="1237023">
                <a:moveTo>
                  <a:pt x="0" y="0"/>
                </a:moveTo>
                <a:lnTo>
                  <a:pt x="1237023" y="0"/>
                </a:lnTo>
                <a:lnTo>
                  <a:pt x="1237023" y="1237023"/>
                </a:lnTo>
                <a:lnTo>
                  <a:pt x="0" y="12370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Point 6 : Moyens mis en œuvre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 smtClean="0"/>
              <a:t>Création</a:t>
            </a:r>
            <a:r>
              <a:rPr dirty="0" smtClean="0"/>
              <a:t> </a:t>
            </a:r>
            <a:r>
              <a:rPr dirty="0"/>
              <a:t>site web et application e-learning</a:t>
            </a:r>
          </a:p>
          <a:p>
            <a:r>
              <a:rPr dirty="0" err="1" smtClean="0"/>
              <a:t>Contenu</a:t>
            </a:r>
            <a:r>
              <a:rPr dirty="0" smtClean="0"/>
              <a:t> </a:t>
            </a:r>
            <a:r>
              <a:rPr dirty="0" err="1"/>
              <a:t>multimédia</a:t>
            </a:r>
            <a:endParaRPr dirty="0"/>
          </a:p>
          <a:p>
            <a:r>
              <a:rPr dirty="0" smtClean="0"/>
              <a:t>Community </a:t>
            </a:r>
            <a:r>
              <a:rPr dirty="0"/>
              <a:t>management</a:t>
            </a:r>
          </a:p>
          <a:p>
            <a:r>
              <a:rPr dirty="0" err="1" smtClean="0"/>
              <a:t>Campagne</a:t>
            </a:r>
            <a:r>
              <a:rPr dirty="0" smtClean="0"/>
              <a:t> </a:t>
            </a:r>
            <a:r>
              <a:rPr dirty="0"/>
              <a:t>de </a:t>
            </a:r>
            <a:r>
              <a:rPr dirty="0" err="1"/>
              <a:t>recrutement</a:t>
            </a:r>
            <a:r>
              <a:rPr dirty="0"/>
              <a:t> des </a:t>
            </a:r>
            <a:r>
              <a:rPr dirty="0" err="1"/>
              <a:t>apprenants</a:t>
            </a:r>
            <a:endParaRPr dirty="0"/>
          </a:p>
        </p:txBody>
      </p:sp>
      <p:sp>
        <p:nvSpPr>
          <p:cNvPr id="4" name="Freeform 5"/>
          <p:cNvSpPr/>
          <p:nvPr/>
        </p:nvSpPr>
        <p:spPr>
          <a:xfrm rot="-10800000" flipV="1">
            <a:off x="7330636" y="4899990"/>
            <a:ext cx="2273669" cy="2273669"/>
          </a:xfrm>
          <a:custGeom>
            <a:avLst/>
            <a:gdLst/>
            <a:ahLst/>
            <a:cxnLst/>
            <a:rect l="l" t="t" r="r" b="b"/>
            <a:pathLst>
              <a:path w="2273669" h="2273669">
                <a:moveTo>
                  <a:pt x="0" y="2273669"/>
                </a:moveTo>
                <a:lnTo>
                  <a:pt x="2273669" y="2273669"/>
                </a:lnTo>
                <a:lnTo>
                  <a:pt x="2273669" y="0"/>
                </a:lnTo>
                <a:lnTo>
                  <a:pt x="0" y="0"/>
                </a:lnTo>
                <a:lnTo>
                  <a:pt x="0" y="227366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16"/>
          <p:cNvSpPr/>
          <p:nvPr/>
        </p:nvSpPr>
        <p:spPr>
          <a:xfrm>
            <a:off x="7684719" y="5418313"/>
            <a:ext cx="1237023" cy="1237023"/>
          </a:xfrm>
          <a:custGeom>
            <a:avLst/>
            <a:gdLst/>
            <a:ahLst/>
            <a:cxnLst/>
            <a:rect l="l" t="t" r="r" b="b"/>
            <a:pathLst>
              <a:path w="1237023" h="1237023">
                <a:moveTo>
                  <a:pt x="0" y="0"/>
                </a:moveTo>
                <a:lnTo>
                  <a:pt x="1237023" y="0"/>
                </a:lnTo>
                <a:lnTo>
                  <a:pt x="1237023" y="1237023"/>
                </a:lnTo>
                <a:lnTo>
                  <a:pt x="0" y="12370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5"/>
          <p:cNvSpPr/>
          <p:nvPr/>
        </p:nvSpPr>
        <p:spPr>
          <a:xfrm rot="5400000" flipV="1">
            <a:off x="7470649" y="-324663"/>
            <a:ext cx="2273669" cy="2273669"/>
          </a:xfrm>
          <a:custGeom>
            <a:avLst/>
            <a:gdLst/>
            <a:ahLst/>
            <a:cxnLst/>
            <a:rect l="l" t="t" r="r" b="b"/>
            <a:pathLst>
              <a:path w="2273669" h="2273669">
                <a:moveTo>
                  <a:pt x="0" y="2273669"/>
                </a:moveTo>
                <a:lnTo>
                  <a:pt x="2273669" y="2273669"/>
                </a:lnTo>
                <a:lnTo>
                  <a:pt x="2273669" y="0"/>
                </a:lnTo>
                <a:lnTo>
                  <a:pt x="0" y="0"/>
                </a:lnTo>
                <a:lnTo>
                  <a:pt x="0" y="227366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16"/>
          <p:cNvSpPr/>
          <p:nvPr/>
        </p:nvSpPr>
        <p:spPr>
          <a:xfrm rot="16200000">
            <a:off x="7824732" y="193660"/>
            <a:ext cx="1237023" cy="1237023"/>
          </a:xfrm>
          <a:custGeom>
            <a:avLst/>
            <a:gdLst/>
            <a:ahLst/>
            <a:cxnLst/>
            <a:rect l="l" t="t" r="r" b="b"/>
            <a:pathLst>
              <a:path w="1237023" h="1237023">
                <a:moveTo>
                  <a:pt x="0" y="0"/>
                </a:moveTo>
                <a:lnTo>
                  <a:pt x="1237023" y="0"/>
                </a:lnTo>
                <a:lnTo>
                  <a:pt x="1237023" y="1237023"/>
                </a:lnTo>
                <a:lnTo>
                  <a:pt x="0" y="12370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Point 7 : Bénéfices pour M-Hub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Source </a:t>
            </a:r>
            <a:r>
              <a:rPr dirty="0"/>
              <a:t>de </a:t>
            </a:r>
            <a:r>
              <a:rPr dirty="0" err="1"/>
              <a:t>revenus</a:t>
            </a:r>
            <a:endParaRPr dirty="0"/>
          </a:p>
          <a:p>
            <a:r>
              <a:rPr dirty="0" err="1" smtClean="0"/>
              <a:t>Positionnement</a:t>
            </a:r>
            <a:r>
              <a:rPr dirty="0" smtClean="0"/>
              <a:t> </a:t>
            </a:r>
            <a:r>
              <a:rPr dirty="0" err="1"/>
              <a:t>comme</a:t>
            </a:r>
            <a:r>
              <a:rPr dirty="0"/>
              <a:t> </a:t>
            </a:r>
            <a:r>
              <a:rPr dirty="0" err="1"/>
              <a:t>centre</a:t>
            </a:r>
            <a:r>
              <a:rPr dirty="0"/>
              <a:t> </a:t>
            </a:r>
            <a:r>
              <a:rPr dirty="0" err="1"/>
              <a:t>d’excellence</a:t>
            </a:r>
            <a:endParaRPr dirty="0"/>
          </a:p>
          <a:p>
            <a:r>
              <a:rPr dirty="0" err="1" smtClean="0"/>
              <a:t>Visibilité</a:t>
            </a:r>
            <a:r>
              <a:rPr dirty="0" smtClean="0"/>
              <a:t> </a:t>
            </a:r>
            <a:r>
              <a:rPr dirty="0"/>
              <a:t>accrue</a:t>
            </a:r>
          </a:p>
          <a:p>
            <a:r>
              <a:rPr dirty="0" smtClean="0"/>
              <a:t>Impact </a:t>
            </a:r>
            <a:r>
              <a:rPr dirty="0"/>
              <a:t>social </a:t>
            </a:r>
            <a:r>
              <a:rPr dirty="0" err="1"/>
              <a:t>mesurable</a:t>
            </a:r>
            <a:endParaRPr dirty="0"/>
          </a:p>
        </p:txBody>
      </p:sp>
      <p:sp>
        <p:nvSpPr>
          <p:cNvPr id="4" name="Freeform 5"/>
          <p:cNvSpPr/>
          <p:nvPr/>
        </p:nvSpPr>
        <p:spPr>
          <a:xfrm rot="-10800000" flipV="1">
            <a:off x="7330636" y="4899990"/>
            <a:ext cx="2273669" cy="2273669"/>
          </a:xfrm>
          <a:custGeom>
            <a:avLst/>
            <a:gdLst/>
            <a:ahLst/>
            <a:cxnLst/>
            <a:rect l="l" t="t" r="r" b="b"/>
            <a:pathLst>
              <a:path w="2273669" h="2273669">
                <a:moveTo>
                  <a:pt x="0" y="2273669"/>
                </a:moveTo>
                <a:lnTo>
                  <a:pt x="2273669" y="2273669"/>
                </a:lnTo>
                <a:lnTo>
                  <a:pt x="2273669" y="0"/>
                </a:lnTo>
                <a:lnTo>
                  <a:pt x="0" y="0"/>
                </a:lnTo>
                <a:lnTo>
                  <a:pt x="0" y="227366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16"/>
          <p:cNvSpPr/>
          <p:nvPr/>
        </p:nvSpPr>
        <p:spPr>
          <a:xfrm>
            <a:off x="7684719" y="5418313"/>
            <a:ext cx="1237023" cy="1237023"/>
          </a:xfrm>
          <a:custGeom>
            <a:avLst/>
            <a:gdLst/>
            <a:ahLst/>
            <a:cxnLst/>
            <a:rect l="l" t="t" r="r" b="b"/>
            <a:pathLst>
              <a:path w="1237023" h="1237023">
                <a:moveTo>
                  <a:pt x="0" y="0"/>
                </a:moveTo>
                <a:lnTo>
                  <a:pt x="1237023" y="0"/>
                </a:lnTo>
                <a:lnTo>
                  <a:pt x="1237023" y="1237023"/>
                </a:lnTo>
                <a:lnTo>
                  <a:pt x="0" y="12370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5"/>
          <p:cNvSpPr/>
          <p:nvPr/>
        </p:nvSpPr>
        <p:spPr>
          <a:xfrm rot="5400000" flipV="1">
            <a:off x="7470649" y="-324663"/>
            <a:ext cx="2273669" cy="2273669"/>
          </a:xfrm>
          <a:custGeom>
            <a:avLst/>
            <a:gdLst/>
            <a:ahLst/>
            <a:cxnLst/>
            <a:rect l="l" t="t" r="r" b="b"/>
            <a:pathLst>
              <a:path w="2273669" h="2273669">
                <a:moveTo>
                  <a:pt x="0" y="2273669"/>
                </a:moveTo>
                <a:lnTo>
                  <a:pt x="2273669" y="2273669"/>
                </a:lnTo>
                <a:lnTo>
                  <a:pt x="2273669" y="0"/>
                </a:lnTo>
                <a:lnTo>
                  <a:pt x="0" y="0"/>
                </a:lnTo>
                <a:lnTo>
                  <a:pt x="0" y="227366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16"/>
          <p:cNvSpPr/>
          <p:nvPr/>
        </p:nvSpPr>
        <p:spPr>
          <a:xfrm rot="16200000">
            <a:off x="7824732" y="193660"/>
            <a:ext cx="1237023" cy="1237023"/>
          </a:xfrm>
          <a:custGeom>
            <a:avLst/>
            <a:gdLst/>
            <a:ahLst/>
            <a:cxnLst/>
            <a:rect l="l" t="t" r="r" b="b"/>
            <a:pathLst>
              <a:path w="1237023" h="1237023">
                <a:moveTo>
                  <a:pt x="0" y="0"/>
                </a:moveTo>
                <a:lnTo>
                  <a:pt x="1237023" y="0"/>
                </a:lnTo>
                <a:lnTo>
                  <a:pt x="1237023" y="1237023"/>
                </a:lnTo>
                <a:lnTo>
                  <a:pt x="0" y="12370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Point 8 : Projet E-SERV – Enjeux 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Digitalisation des recettes publiques : transparence, traçabilité, efficacité.</a:t>
            </a:r>
          </a:p>
          <a:p>
            <a:r>
              <a:t>Objectif : Gérer les paiements des services publics via une plateforme numérique.</a:t>
            </a:r>
          </a:p>
        </p:txBody>
      </p:sp>
      <p:sp>
        <p:nvSpPr>
          <p:cNvPr id="4" name="Freeform 5"/>
          <p:cNvSpPr/>
          <p:nvPr/>
        </p:nvSpPr>
        <p:spPr>
          <a:xfrm rot="-10800000" flipV="1">
            <a:off x="7330636" y="4899990"/>
            <a:ext cx="2273669" cy="2273669"/>
          </a:xfrm>
          <a:custGeom>
            <a:avLst/>
            <a:gdLst/>
            <a:ahLst/>
            <a:cxnLst/>
            <a:rect l="l" t="t" r="r" b="b"/>
            <a:pathLst>
              <a:path w="2273669" h="2273669">
                <a:moveTo>
                  <a:pt x="0" y="2273669"/>
                </a:moveTo>
                <a:lnTo>
                  <a:pt x="2273669" y="2273669"/>
                </a:lnTo>
                <a:lnTo>
                  <a:pt x="2273669" y="0"/>
                </a:lnTo>
                <a:lnTo>
                  <a:pt x="0" y="0"/>
                </a:lnTo>
                <a:lnTo>
                  <a:pt x="0" y="227366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16"/>
          <p:cNvSpPr/>
          <p:nvPr/>
        </p:nvSpPr>
        <p:spPr>
          <a:xfrm>
            <a:off x="7684719" y="5418313"/>
            <a:ext cx="1237023" cy="1237023"/>
          </a:xfrm>
          <a:custGeom>
            <a:avLst/>
            <a:gdLst/>
            <a:ahLst/>
            <a:cxnLst/>
            <a:rect l="l" t="t" r="r" b="b"/>
            <a:pathLst>
              <a:path w="1237023" h="1237023">
                <a:moveTo>
                  <a:pt x="0" y="0"/>
                </a:moveTo>
                <a:lnTo>
                  <a:pt x="1237023" y="0"/>
                </a:lnTo>
                <a:lnTo>
                  <a:pt x="1237023" y="1237023"/>
                </a:lnTo>
                <a:lnTo>
                  <a:pt x="0" y="12370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5"/>
          <p:cNvSpPr/>
          <p:nvPr/>
        </p:nvSpPr>
        <p:spPr>
          <a:xfrm rot="5400000" flipV="1">
            <a:off x="7470649" y="-324663"/>
            <a:ext cx="2273669" cy="2273669"/>
          </a:xfrm>
          <a:custGeom>
            <a:avLst/>
            <a:gdLst/>
            <a:ahLst/>
            <a:cxnLst/>
            <a:rect l="l" t="t" r="r" b="b"/>
            <a:pathLst>
              <a:path w="2273669" h="2273669">
                <a:moveTo>
                  <a:pt x="0" y="2273669"/>
                </a:moveTo>
                <a:lnTo>
                  <a:pt x="2273669" y="2273669"/>
                </a:lnTo>
                <a:lnTo>
                  <a:pt x="2273669" y="0"/>
                </a:lnTo>
                <a:lnTo>
                  <a:pt x="0" y="0"/>
                </a:lnTo>
                <a:lnTo>
                  <a:pt x="0" y="227366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16"/>
          <p:cNvSpPr/>
          <p:nvPr/>
        </p:nvSpPr>
        <p:spPr>
          <a:xfrm rot="16200000">
            <a:off x="7824732" y="193660"/>
            <a:ext cx="1237023" cy="1237023"/>
          </a:xfrm>
          <a:custGeom>
            <a:avLst/>
            <a:gdLst/>
            <a:ahLst/>
            <a:cxnLst/>
            <a:rect l="l" t="t" r="r" b="b"/>
            <a:pathLst>
              <a:path w="1237023" h="1237023">
                <a:moveTo>
                  <a:pt x="0" y="0"/>
                </a:moveTo>
                <a:lnTo>
                  <a:pt x="1237023" y="0"/>
                </a:lnTo>
                <a:lnTo>
                  <a:pt x="1237023" y="1237023"/>
                </a:lnTo>
                <a:lnTo>
                  <a:pt x="0" y="12370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Point 9 : Fonctionnalités clés d’E-SERV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 smtClean="0"/>
              <a:t>Comptes</a:t>
            </a:r>
            <a:r>
              <a:rPr dirty="0" smtClean="0"/>
              <a:t> </a:t>
            </a:r>
            <a:r>
              <a:rPr dirty="0"/>
              <a:t>pour administrations</a:t>
            </a:r>
          </a:p>
          <a:p>
            <a:r>
              <a:rPr dirty="0" err="1" smtClean="0"/>
              <a:t>Paiements</a:t>
            </a:r>
            <a:r>
              <a:rPr dirty="0" smtClean="0"/>
              <a:t> </a:t>
            </a:r>
            <a:r>
              <a:rPr dirty="0" err="1"/>
              <a:t>digitaux</a:t>
            </a:r>
            <a:endParaRPr dirty="0"/>
          </a:p>
          <a:p>
            <a:r>
              <a:rPr dirty="0" smtClean="0"/>
              <a:t>Tableaux </a:t>
            </a:r>
            <a:r>
              <a:rPr dirty="0"/>
              <a:t>de </a:t>
            </a:r>
            <a:r>
              <a:rPr dirty="0" err="1"/>
              <a:t>bord</a:t>
            </a:r>
            <a:endParaRPr dirty="0"/>
          </a:p>
          <a:p>
            <a:r>
              <a:rPr dirty="0" err="1" smtClean="0"/>
              <a:t>Suivi</a:t>
            </a:r>
            <a:r>
              <a:rPr dirty="0" smtClean="0"/>
              <a:t> </a:t>
            </a:r>
            <a:r>
              <a:rPr dirty="0"/>
              <a:t>et audit en temps </a:t>
            </a:r>
            <a:r>
              <a:rPr dirty="0" err="1"/>
              <a:t>réel</a:t>
            </a:r>
            <a:endParaRPr dirty="0"/>
          </a:p>
        </p:txBody>
      </p:sp>
      <p:sp>
        <p:nvSpPr>
          <p:cNvPr id="4" name="Freeform 5"/>
          <p:cNvSpPr/>
          <p:nvPr/>
        </p:nvSpPr>
        <p:spPr>
          <a:xfrm rot="-10800000" flipV="1">
            <a:off x="7330636" y="4899990"/>
            <a:ext cx="2273669" cy="2273669"/>
          </a:xfrm>
          <a:custGeom>
            <a:avLst/>
            <a:gdLst/>
            <a:ahLst/>
            <a:cxnLst/>
            <a:rect l="l" t="t" r="r" b="b"/>
            <a:pathLst>
              <a:path w="2273669" h="2273669">
                <a:moveTo>
                  <a:pt x="0" y="2273669"/>
                </a:moveTo>
                <a:lnTo>
                  <a:pt x="2273669" y="2273669"/>
                </a:lnTo>
                <a:lnTo>
                  <a:pt x="2273669" y="0"/>
                </a:lnTo>
                <a:lnTo>
                  <a:pt x="0" y="0"/>
                </a:lnTo>
                <a:lnTo>
                  <a:pt x="0" y="227366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16"/>
          <p:cNvSpPr/>
          <p:nvPr/>
        </p:nvSpPr>
        <p:spPr>
          <a:xfrm>
            <a:off x="7684719" y="5418313"/>
            <a:ext cx="1237023" cy="1237023"/>
          </a:xfrm>
          <a:custGeom>
            <a:avLst/>
            <a:gdLst/>
            <a:ahLst/>
            <a:cxnLst/>
            <a:rect l="l" t="t" r="r" b="b"/>
            <a:pathLst>
              <a:path w="1237023" h="1237023">
                <a:moveTo>
                  <a:pt x="0" y="0"/>
                </a:moveTo>
                <a:lnTo>
                  <a:pt x="1237023" y="0"/>
                </a:lnTo>
                <a:lnTo>
                  <a:pt x="1237023" y="1237023"/>
                </a:lnTo>
                <a:lnTo>
                  <a:pt x="0" y="12370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5"/>
          <p:cNvSpPr/>
          <p:nvPr/>
        </p:nvSpPr>
        <p:spPr>
          <a:xfrm rot="5400000" flipV="1">
            <a:off x="7470649" y="-324663"/>
            <a:ext cx="2273669" cy="2273669"/>
          </a:xfrm>
          <a:custGeom>
            <a:avLst/>
            <a:gdLst/>
            <a:ahLst/>
            <a:cxnLst/>
            <a:rect l="l" t="t" r="r" b="b"/>
            <a:pathLst>
              <a:path w="2273669" h="2273669">
                <a:moveTo>
                  <a:pt x="0" y="2273669"/>
                </a:moveTo>
                <a:lnTo>
                  <a:pt x="2273669" y="2273669"/>
                </a:lnTo>
                <a:lnTo>
                  <a:pt x="2273669" y="0"/>
                </a:lnTo>
                <a:lnTo>
                  <a:pt x="0" y="0"/>
                </a:lnTo>
                <a:lnTo>
                  <a:pt x="0" y="227366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16"/>
          <p:cNvSpPr/>
          <p:nvPr/>
        </p:nvSpPr>
        <p:spPr>
          <a:xfrm rot="16200000">
            <a:off x="7824732" y="193660"/>
            <a:ext cx="1237023" cy="1237023"/>
          </a:xfrm>
          <a:custGeom>
            <a:avLst/>
            <a:gdLst/>
            <a:ahLst/>
            <a:cxnLst/>
            <a:rect l="l" t="t" r="r" b="b"/>
            <a:pathLst>
              <a:path w="1237023" h="1237023">
                <a:moveTo>
                  <a:pt x="0" y="0"/>
                </a:moveTo>
                <a:lnTo>
                  <a:pt x="1237023" y="0"/>
                </a:lnTo>
                <a:lnTo>
                  <a:pt x="1237023" y="1237023"/>
                </a:lnTo>
                <a:lnTo>
                  <a:pt x="0" y="12370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Point 10 : Proposition d’investissement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M-Hub peut investir dans le développement d’E-SERV avec un retour sur investissement de 50%.</a:t>
            </a:r>
          </a:p>
        </p:txBody>
      </p:sp>
      <p:sp>
        <p:nvSpPr>
          <p:cNvPr id="4" name="Freeform 5"/>
          <p:cNvSpPr/>
          <p:nvPr/>
        </p:nvSpPr>
        <p:spPr>
          <a:xfrm rot="-10800000" flipV="1">
            <a:off x="7330636" y="4899990"/>
            <a:ext cx="2273669" cy="2273669"/>
          </a:xfrm>
          <a:custGeom>
            <a:avLst/>
            <a:gdLst/>
            <a:ahLst/>
            <a:cxnLst/>
            <a:rect l="l" t="t" r="r" b="b"/>
            <a:pathLst>
              <a:path w="2273669" h="2273669">
                <a:moveTo>
                  <a:pt x="0" y="2273669"/>
                </a:moveTo>
                <a:lnTo>
                  <a:pt x="2273669" y="2273669"/>
                </a:lnTo>
                <a:lnTo>
                  <a:pt x="2273669" y="0"/>
                </a:lnTo>
                <a:lnTo>
                  <a:pt x="0" y="0"/>
                </a:lnTo>
                <a:lnTo>
                  <a:pt x="0" y="227366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16"/>
          <p:cNvSpPr/>
          <p:nvPr/>
        </p:nvSpPr>
        <p:spPr>
          <a:xfrm>
            <a:off x="7684719" y="5418313"/>
            <a:ext cx="1237023" cy="1237023"/>
          </a:xfrm>
          <a:custGeom>
            <a:avLst/>
            <a:gdLst/>
            <a:ahLst/>
            <a:cxnLst/>
            <a:rect l="l" t="t" r="r" b="b"/>
            <a:pathLst>
              <a:path w="1237023" h="1237023">
                <a:moveTo>
                  <a:pt x="0" y="0"/>
                </a:moveTo>
                <a:lnTo>
                  <a:pt x="1237023" y="0"/>
                </a:lnTo>
                <a:lnTo>
                  <a:pt x="1237023" y="1237023"/>
                </a:lnTo>
                <a:lnTo>
                  <a:pt x="0" y="12370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5"/>
          <p:cNvSpPr/>
          <p:nvPr/>
        </p:nvSpPr>
        <p:spPr>
          <a:xfrm rot="5400000" flipV="1">
            <a:off x="7470649" y="-324663"/>
            <a:ext cx="2273669" cy="2273669"/>
          </a:xfrm>
          <a:custGeom>
            <a:avLst/>
            <a:gdLst/>
            <a:ahLst/>
            <a:cxnLst/>
            <a:rect l="l" t="t" r="r" b="b"/>
            <a:pathLst>
              <a:path w="2273669" h="2273669">
                <a:moveTo>
                  <a:pt x="0" y="2273669"/>
                </a:moveTo>
                <a:lnTo>
                  <a:pt x="2273669" y="2273669"/>
                </a:lnTo>
                <a:lnTo>
                  <a:pt x="2273669" y="0"/>
                </a:lnTo>
                <a:lnTo>
                  <a:pt x="0" y="0"/>
                </a:lnTo>
                <a:lnTo>
                  <a:pt x="0" y="227366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16"/>
          <p:cNvSpPr/>
          <p:nvPr/>
        </p:nvSpPr>
        <p:spPr>
          <a:xfrm rot="16200000">
            <a:off x="7824732" y="193660"/>
            <a:ext cx="1237023" cy="1237023"/>
          </a:xfrm>
          <a:custGeom>
            <a:avLst/>
            <a:gdLst/>
            <a:ahLst/>
            <a:cxnLst/>
            <a:rect l="l" t="t" r="r" b="b"/>
            <a:pathLst>
              <a:path w="1237023" h="1237023">
                <a:moveTo>
                  <a:pt x="0" y="0"/>
                </a:moveTo>
                <a:lnTo>
                  <a:pt x="1237023" y="0"/>
                </a:lnTo>
                <a:lnTo>
                  <a:pt x="1237023" y="1237023"/>
                </a:lnTo>
                <a:lnTo>
                  <a:pt x="0" y="12370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Point 11 : Pourquoi M-Hub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 smtClean="0"/>
              <a:t>Crédibilité</a:t>
            </a:r>
            <a:endParaRPr dirty="0"/>
          </a:p>
          <a:p>
            <a:r>
              <a:rPr dirty="0" smtClean="0"/>
              <a:t>Infrastructure </a:t>
            </a:r>
            <a:r>
              <a:rPr dirty="0"/>
              <a:t>et </a:t>
            </a:r>
            <a:r>
              <a:rPr dirty="0" err="1"/>
              <a:t>réseau</a:t>
            </a:r>
            <a:endParaRPr dirty="0"/>
          </a:p>
          <a:p>
            <a:r>
              <a:rPr dirty="0" err="1" smtClean="0"/>
              <a:t>Capacité</a:t>
            </a:r>
            <a:r>
              <a:rPr dirty="0" smtClean="0"/>
              <a:t> </a:t>
            </a:r>
            <a:r>
              <a:rPr dirty="0"/>
              <a:t>de </a:t>
            </a:r>
            <a:r>
              <a:rPr dirty="0" err="1"/>
              <a:t>mobilisation</a:t>
            </a:r>
            <a:endParaRPr dirty="0"/>
          </a:p>
          <a:p>
            <a:r>
              <a:rPr dirty="0" err="1" smtClean="0"/>
              <a:t>Alignement</a:t>
            </a:r>
            <a:r>
              <a:rPr dirty="0" smtClean="0"/>
              <a:t> </a:t>
            </a:r>
            <a:r>
              <a:rPr dirty="0"/>
              <a:t>avec e-</a:t>
            </a:r>
            <a:r>
              <a:rPr dirty="0" err="1"/>
              <a:t>gouvernance</a:t>
            </a:r>
            <a:endParaRPr dirty="0"/>
          </a:p>
        </p:txBody>
      </p:sp>
      <p:sp>
        <p:nvSpPr>
          <p:cNvPr id="4" name="Freeform 5"/>
          <p:cNvSpPr/>
          <p:nvPr/>
        </p:nvSpPr>
        <p:spPr>
          <a:xfrm rot="-10800000" flipV="1">
            <a:off x="7330636" y="4899990"/>
            <a:ext cx="2273669" cy="2273669"/>
          </a:xfrm>
          <a:custGeom>
            <a:avLst/>
            <a:gdLst/>
            <a:ahLst/>
            <a:cxnLst/>
            <a:rect l="l" t="t" r="r" b="b"/>
            <a:pathLst>
              <a:path w="2273669" h="2273669">
                <a:moveTo>
                  <a:pt x="0" y="2273669"/>
                </a:moveTo>
                <a:lnTo>
                  <a:pt x="2273669" y="2273669"/>
                </a:lnTo>
                <a:lnTo>
                  <a:pt x="2273669" y="0"/>
                </a:lnTo>
                <a:lnTo>
                  <a:pt x="0" y="0"/>
                </a:lnTo>
                <a:lnTo>
                  <a:pt x="0" y="227366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16"/>
          <p:cNvSpPr/>
          <p:nvPr/>
        </p:nvSpPr>
        <p:spPr>
          <a:xfrm>
            <a:off x="7684719" y="5418313"/>
            <a:ext cx="1237023" cy="1237023"/>
          </a:xfrm>
          <a:custGeom>
            <a:avLst/>
            <a:gdLst/>
            <a:ahLst/>
            <a:cxnLst/>
            <a:rect l="l" t="t" r="r" b="b"/>
            <a:pathLst>
              <a:path w="1237023" h="1237023">
                <a:moveTo>
                  <a:pt x="0" y="0"/>
                </a:moveTo>
                <a:lnTo>
                  <a:pt x="1237023" y="0"/>
                </a:lnTo>
                <a:lnTo>
                  <a:pt x="1237023" y="1237023"/>
                </a:lnTo>
                <a:lnTo>
                  <a:pt x="0" y="12370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5"/>
          <p:cNvSpPr/>
          <p:nvPr/>
        </p:nvSpPr>
        <p:spPr>
          <a:xfrm rot="5400000" flipV="1">
            <a:off x="7470649" y="-324663"/>
            <a:ext cx="2273669" cy="2273669"/>
          </a:xfrm>
          <a:custGeom>
            <a:avLst/>
            <a:gdLst/>
            <a:ahLst/>
            <a:cxnLst/>
            <a:rect l="l" t="t" r="r" b="b"/>
            <a:pathLst>
              <a:path w="2273669" h="2273669">
                <a:moveTo>
                  <a:pt x="0" y="2273669"/>
                </a:moveTo>
                <a:lnTo>
                  <a:pt x="2273669" y="2273669"/>
                </a:lnTo>
                <a:lnTo>
                  <a:pt x="2273669" y="0"/>
                </a:lnTo>
                <a:lnTo>
                  <a:pt x="0" y="0"/>
                </a:lnTo>
                <a:lnTo>
                  <a:pt x="0" y="227366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16"/>
          <p:cNvSpPr/>
          <p:nvPr/>
        </p:nvSpPr>
        <p:spPr>
          <a:xfrm rot="16200000">
            <a:off x="7824732" y="193660"/>
            <a:ext cx="1237023" cy="1237023"/>
          </a:xfrm>
          <a:custGeom>
            <a:avLst/>
            <a:gdLst/>
            <a:ahLst/>
            <a:cxnLst/>
            <a:rect l="l" t="t" r="r" b="b"/>
            <a:pathLst>
              <a:path w="1237023" h="1237023">
                <a:moveTo>
                  <a:pt x="0" y="0"/>
                </a:moveTo>
                <a:lnTo>
                  <a:pt x="1237023" y="0"/>
                </a:lnTo>
                <a:lnTo>
                  <a:pt x="1237023" y="1237023"/>
                </a:lnTo>
                <a:lnTo>
                  <a:pt x="0" y="12370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Point 12 : Conclusion &amp; appel à l’action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Deux projets stratégiques pour la croissance de M-Hub :</a:t>
            </a:r>
          </a:p>
          <a:p>
            <a:r>
              <a:t>1. Hub de formation hybride</a:t>
            </a:r>
          </a:p>
          <a:p>
            <a:r>
              <a:t>2. E-SERV</a:t>
            </a:r>
          </a:p>
          <a:p>
            <a:r>
              <a:t>Prochaine étape : Réunion technique pour lancement.</a:t>
            </a:r>
          </a:p>
        </p:txBody>
      </p:sp>
      <p:sp>
        <p:nvSpPr>
          <p:cNvPr id="4" name="Freeform 5"/>
          <p:cNvSpPr/>
          <p:nvPr/>
        </p:nvSpPr>
        <p:spPr>
          <a:xfrm rot="-10800000" flipV="1">
            <a:off x="7330636" y="4899990"/>
            <a:ext cx="2273669" cy="2273669"/>
          </a:xfrm>
          <a:custGeom>
            <a:avLst/>
            <a:gdLst/>
            <a:ahLst/>
            <a:cxnLst/>
            <a:rect l="l" t="t" r="r" b="b"/>
            <a:pathLst>
              <a:path w="2273669" h="2273669">
                <a:moveTo>
                  <a:pt x="0" y="2273669"/>
                </a:moveTo>
                <a:lnTo>
                  <a:pt x="2273669" y="2273669"/>
                </a:lnTo>
                <a:lnTo>
                  <a:pt x="2273669" y="0"/>
                </a:lnTo>
                <a:lnTo>
                  <a:pt x="0" y="0"/>
                </a:lnTo>
                <a:lnTo>
                  <a:pt x="0" y="227366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16"/>
          <p:cNvSpPr/>
          <p:nvPr/>
        </p:nvSpPr>
        <p:spPr>
          <a:xfrm>
            <a:off x="7684719" y="5418313"/>
            <a:ext cx="1237023" cy="1237023"/>
          </a:xfrm>
          <a:custGeom>
            <a:avLst/>
            <a:gdLst/>
            <a:ahLst/>
            <a:cxnLst/>
            <a:rect l="l" t="t" r="r" b="b"/>
            <a:pathLst>
              <a:path w="1237023" h="1237023">
                <a:moveTo>
                  <a:pt x="0" y="0"/>
                </a:moveTo>
                <a:lnTo>
                  <a:pt x="1237023" y="0"/>
                </a:lnTo>
                <a:lnTo>
                  <a:pt x="1237023" y="1237023"/>
                </a:lnTo>
                <a:lnTo>
                  <a:pt x="0" y="12370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5"/>
          <p:cNvSpPr/>
          <p:nvPr/>
        </p:nvSpPr>
        <p:spPr>
          <a:xfrm rot="5400000" flipV="1">
            <a:off x="7470649" y="-324663"/>
            <a:ext cx="2273669" cy="2273669"/>
          </a:xfrm>
          <a:custGeom>
            <a:avLst/>
            <a:gdLst/>
            <a:ahLst/>
            <a:cxnLst/>
            <a:rect l="l" t="t" r="r" b="b"/>
            <a:pathLst>
              <a:path w="2273669" h="2273669">
                <a:moveTo>
                  <a:pt x="0" y="2273669"/>
                </a:moveTo>
                <a:lnTo>
                  <a:pt x="2273669" y="2273669"/>
                </a:lnTo>
                <a:lnTo>
                  <a:pt x="2273669" y="0"/>
                </a:lnTo>
                <a:lnTo>
                  <a:pt x="0" y="0"/>
                </a:lnTo>
                <a:lnTo>
                  <a:pt x="0" y="227366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16"/>
          <p:cNvSpPr/>
          <p:nvPr/>
        </p:nvSpPr>
        <p:spPr>
          <a:xfrm rot="16200000">
            <a:off x="7824732" y="193660"/>
            <a:ext cx="1237023" cy="1237023"/>
          </a:xfrm>
          <a:custGeom>
            <a:avLst/>
            <a:gdLst/>
            <a:ahLst/>
            <a:cxnLst/>
            <a:rect l="l" t="t" r="r" b="b"/>
            <a:pathLst>
              <a:path w="1237023" h="1237023">
                <a:moveTo>
                  <a:pt x="0" y="0"/>
                </a:moveTo>
                <a:lnTo>
                  <a:pt x="1237023" y="0"/>
                </a:lnTo>
                <a:lnTo>
                  <a:pt x="1237023" y="1237023"/>
                </a:lnTo>
                <a:lnTo>
                  <a:pt x="0" y="12370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Point 13 : Citation de clôture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"</a:t>
            </a:r>
            <a:r>
              <a:rPr dirty="0" err="1"/>
              <a:t>Investir</a:t>
            </a:r>
            <a:r>
              <a:rPr dirty="0"/>
              <a:t> </a:t>
            </a:r>
            <a:r>
              <a:rPr dirty="0" err="1"/>
              <a:t>aujourd’hui</a:t>
            </a:r>
            <a:r>
              <a:rPr dirty="0"/>
              <a:t>, </a:t>
            </a:r>
            <a:r>
              <a:rPr dirty="0" err="1"/>
              <a:t>c’est</a:t>
            </a:r>
            <a:r>
              <a:rPr dirty="0"/>
              <a:t> </a:t>
            </a:r>
            <a:r>
              <a:rPr dirty="0" err="1"/>
              <a:t>garantir</a:t>
            </a:r>
            <a:r>
              <a:rPr dirty="0"/>
              <a:t> </a:t>
            </a:r>
            <a:r>
              <a:rPr dirty="0" err="1"/>
              <a:t>l’impact</a:t>
            </a:r>
            <a:r>
              <a:rPr dirty="0"/>
              <a:t> de </a:t>
            </a:r>
            <a:r>
              <a:rPr dirty="0" err="1"/>
              <a:t>demain</a:t>
            </a:r>
            <a:r>
              <a:rPr dirty="0"/>
              <a:t>. Ne pas </a:t>
            </a:r>
            <a:r>
              <a:rPr dirty="0" err="1"/>
              <a:t>investir</a:t>
            </a:r>
            <a:r>
              <a:rPr dirty="0"/>
              <a:t>, </a:t>
            </a:r>
            <a:r>
              <a:rPr dirty="0" err="1"/>
              <a:t>c’est</a:t>
            </a:r>
            <a:r>
              <a:rPr dirty="0"/>
              <a:t> </a:t>
            </a:r>
            <a:r>
              <a:rPr dirty="0" err="1"/>
              <a:t>risquer</a:t>
            </a:r>
            <a:r>
              <a:rPr dirty="0"/>
              <a:t> de </a:t>
            </a:r>
            <a:r>
              <a:rPr dirty="0" err="1"/>
              <a:t>rester</a:t>
            </a:r>
            <a:r>
              <a:rPr dirty="0"/>
              <a:t> en </a:t>
            </a:r>
            <a:r>
              <a:rPr dirty="0" err="1"/>
              <a:t>arrière</a:t>
            </a:r>
            <a:r>
              <a:rPr dirty="0"/>
              <a:t> pendant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l’avenir</a:t>
            </a:r>
            <a:r>
              <a:rPr dirty="0"/>
              <a:t> se </a:t>
            </a:r>
            <a:r>
              <a:rPr dirty="0" err="1"/>
              <a:t>construit</a:t>
            </a:r>
            <a:r>
              <a:rPr dirty="0"/>
              <a:t> </a:t>
            </a:r>
            <a:r>
              <a:rPr dirty="0" err="1"/>
              <a:t>ailleurs</a:t>
            </a:r>
            <a:r>
              <a:rPr dirty="0"/>
              <a:t>."</a:t>
            </a:r>
          </a:p>
        </p:txBody>
      </p:sp>
      <p:sp>
        <p:nvSpPr>
          <p:cNvPr id="4" name="Freeform 5"/>
          <p:cNvSpPr/>
          <p:nvPr/>
        </p:nvSpPr>
        <p:spPr>
          <a:xfrm rot="-10800000" flipV="1">
            <a:off x="7330636" y="4899990"/>
            <a:ext cx="2273669" cy="2273669"/>
          </a:xfrm>
          <a:custGeom>
            <a:avLst/>
            <a:gdLst/>
            <a:ahLst/>
            <a:cxnLst/>
            <a:rect l="l" t="t" r="r" b="b"/>
            <a:pathLst>
              <a:path w="2273669" h="2273669">
                <a:moveTo>
                  <a:pt x="0" y="2273669"/>
                </a:moveTo>
                <a:lnTo>
                  <a:pt x="2273669" y="2273669"/>
                </a:lnTo>
                <a:lnTo>
                  <a:pt x="2273669" y="0"/>
                </a:lnTo>
                <a:lnTo>
                  <a:pt x="0" y="0"/>
                </a:lnTo>
                <a:lnTo>
                  <a:pt x="0" y="227366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16"/>
          <p:cNvSpPr/>
          <p:nvPr/>
        </p:nvSpPr>
        <p:spPr>
          <a:xfrm>
            <a:off x="7684719" y="5418313"/>
            <a:ext cx="1237023" cy="1237023"/>
          </a:xfrm>
          <a:custGeom>
            <a:avLst/>
            <a:gdLst/>
            <a:ahLst/>
            <a:cxnLst/>
            <a:rect l="l" t="t" r="r" b="b"/>
            <a:pathLst>
              <a:path w="1237023" h="1237023">
                <a:moveTo>
                  <a:pt x="0" y="0"/>
                </a:moveTo>
                <a:lnTo>
                  <a:pt x="1237023" y="0"/>
                </a:lnTo>
                <a:lnTo>
                  <a:pt x="1237023" y="1237023"/>
                </a:lnTo>
                <a:lnTo>
                  <a:pt x="0" y="12370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5"/>
          <p:cNvSpPr/>
          <p:nvPr/>
        </p:nvSpPr>
        <p:spPr>
          <a:xfrm rot="5400000" flipV="1">
            <a:off x="7470649" y="-324663"/>
            <a:ext cx="2273669" cy="2273669"/>
          </a:xfrm>
          <a:custGeom>
            <a:avLst/>
            <a:gdLst/>
            <a:ahLst/>
            <a:cxnLst/>
            <a:rect l="l" t="t" r="r" b="b"/>
            <a:pathLst>
              <a:path w="2273669" h="2273669">
                <a:moveTo>
                  <a:pt x="0" y="2273669"/>
                </a:moveTo>
                <a:lnTo>
                  <a:pt x="2273669" y="2273669"/>
                </a:lnTo>
                <a:lnTo>
                  <a:pt x="2273669" y="0"/>
                </a:lnTo>
                <a:lnTo>
                  <a:pt x="0" y="0"/>
                </a:lnTo>
                <a:lnTo>
                  <a:pt x="0" y="227366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16"/>
          <p:cNvSpPr/>
          <p:nvPr/>
        </p:nvSpPr>
        <p:spPr>
          <a:xfrm rot="16200000">
            <a:off x="7824732" y="193660"/>
            <a:ext cx="1237023" cy="1237023"/>
          </a:xfrm>
          <a:custGeom>
            <a:avLst/>
            <a:gdLst/>
            <a:ahLst/>
            <a:cxnLst/>
            <a:rect l="l" t="t" r="r" b="b"/>
            <a:pathLst>
              <a:path w="1237023" h="1237023">
                <a:moveTo>
                  <a:pt x="0" y="0"/>
                </a:moveTo>
                <a:lnTo>
                  <a:pt x="1237023" y="0"/>
                </a:lnTo>
                <a:lnTo>
                  <a:pt x="1237023" y="1237023"/>
                </a:lnTo>
                <a:lnTo>
                  <a:pt x="0" y="12370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369</Words>
  <Application>Microsoft Office PowerPoint</Application>
  <PresentationFormat>Affichage à l'écran (4:3)</PresentationFormat>
  <Paragraphs>51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Point 1 : Introduction</vt:lpstr>
      <vt:lpstr>Point 2 : Hub de formation hybride – Objectif &amp; Vision</vt:lpstr>
      <vt:lpstr>Point 3 : Publics cibles et opportunités</vt:lpstr>
      <vt:lpstr>Point 4 : Offres de formation proposées</vt:lpstr>
      <vt:lpstr>Point 5 : Modalités d’exécution</vt:lpstr>
      <vt:lpstr>Point 6 : Moyens mis en œuvre</vt:lpstr>
      <vt:lpstr>Point 7 : Bénéfices pour M-Hub</vt:lpstr>
      <vt:lpstr>Point 8 : Projet E-SERV – Enjeux et description</vt:lpstr>
      <vt:lpstr>Point 9 : Fonctionnalités clés d’E-SERV</vt:lpstr>
      <vt:lpstr>Point 10 : Proposition d’investissement</vt:lpstr>
      <vt:lpstr>Point 11 : Pourquoi M-Hub ?</vt:lpstr>
      <vt:lpstr>Point 12 : Conclusion &amp; appel à l’action</vt:lpstr>
      <vt:lpstr>Point 13 : Citation de clôture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Point 1 : Introduction</dc:title>
  <dc:subject/>
  <dc:creator/>
  <cp:keywords/>
  <dc:description>generated using python-pptx</dc:description>
  <cp:lastModifiedBy>Windows User</cp:lastModifiedBy>
  <cp:revision>11</cp:revision>
  <dcterms:created xsi:type="dcterms:W3CDTF">2013-01-27T09:14:16Z</dcterms:created>
  <dcterms:modified xsi:type="dcterms:W3CDTF">2025-06-02T15:03:48Z</dcterms:modified>
  <cp:category/>
</cp:coreProperties>
</file>